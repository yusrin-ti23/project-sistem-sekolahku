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0" r:id="rId5"/>
    <p:sldId id="309" r:id="rId6"/>
    <p:sldId id="311" r:id="rId7"/>
    <p:sldId id="312" r:id="rId8"/>
    <p:sldId id="318" r:id="rId9"/>
    <p:sldId id="317" r:id="rId10"/>
    <p:sldId id="306" r:id="rId11"/>
    <p:sldId id="303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52186-C111-43A8-A0F7-F77FFDE4DF82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6CFAD-C154-4C9C-AD01-665A505506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BBB5B-F3DE-41D7-B279-483D20E8E363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2BC0-7DC4-4569-951D-2BB9475345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anchor="ctr"/>
          <a:lstStyle>
            <a:lvl1pPr algn="ctr">
              <a:defRPr sz="5400" b="1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Blank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anchor="ctr"/>
          <a:lstStyle>
            <a:lvl1pPr algn="ctr">
              <a:defRPr sz="5400" b="1" cap="all" spc="1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E4A4B5C-D71A-0CFA-A601-EB93F13F5A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16642" y="0"/>
            <a:ext cx="12208642" cy="6977135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166" y="2449491"/>
            <a:ext cx="9805548" cy="185036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PROPOSAL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USAHA BIBIT NILAM</a:t>
            </a:r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een rolling hills with a sunset">
            <a:extLst>
              <a:ext uri="{FF2B5EF4-FFF2-40B4-BE49-F238E27FC236}">
                <a16:creationId xmlns:a16="http://schemas.microsoft.com/office/drawing/2014/main" id="{565AB0FC-9FCD-FDB2-1D84-F3D855D838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1" y="0"/>
            <a:ext cx="5475513" cy="6858000"/>
          </a:xfr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3F9E60C6-15AA-4C95-9519-652CD08A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71" y="1853428"/>
            <a:ext cx="4377400" cy="2160644"/>
          </a:xfrm>
        </p:spPr>
        <p:txBody>
          <a:bodyPr/>
          <a:lstStyle/>
          <a:p>
            <a:r>
              <a:rPr lang="en-US" dirty="0"/>
              <a:t>A. DASAR PEMIKIRAN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E8875C-8FE5-DCE1-106E-5F34DFD161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97971" y="0"/>
            <a:ext cx="5573485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3AADE-5119-8CE2-0DD5-2BD7E3403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3229" y="0"/>
            <a:ext cx="6498772" cy="6858000"/>
          </a:xfrm>
        </p:spPr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usaha</a:t>
            </a:r>
            <a:r>
              <a:rPr lang="en-US" dirty="0"/>
              <a:t> </a:t>
            </a:r>
            <a:r>
              <a:rPr lang="en-US" dirty="0" err="1"/>
              <a:t>dibidang</a:t>
            </a:r>
            <a:r>
              <a:rPr lang="en-US" dirty="0"/>
              <a:t> </a:t>
            </a:r>
            <a:r>
              <a:rPr lang="en-US" dirty="0" err="1"/>
              <a:t>pertanian</a:t>
            </a:r>
            <a:r>
              <a:rPr lang="en-US" dirty="0"/>
              <a:t> </a:t>
            </a:r>
            <a:r>
              <a:rPr lang="en-US" dirty="0" err="1"/>
              <a:t>mencakup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tanaman</a:t>
            </a:r>
            <a:r>
              <a:rPr lang="en-US" dirty="0"/>
              <a:t> </a:t>
            </a:r>
            <a:r>
              <a:rPr lang="en-US" dirty="0" err="1"/>
              <a:t>nilam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minyak</a:t>
            </a:r>
            <a:r>
              <a:rPr lang="en-US" dirty="0"/>
              <a:t> </a:t>
            </a:r>
            <a:r>
              <a:rPr lang="en-US" dirty="0" err="1"/>
              <a:t>atsiri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ekonomi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. Selain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pertanian</a:t>
            </a:r>
            <a:r>
              <a:rPr lang="en-US" dirty="0"/>
              <a:t> </a:t>
            </a:r>
            <a:r>
              <a:rPr lang="en-US" dirty="0" err="1"/>
              <a:t>nilam</a:t>
            </a:r>
            <a:r>
              <a:rPr lang="en-US" dirty="0"/>
              <a:t> juga </a:t>
            </a:r>
            <a:r>
              <a:rPr lang="en-US" dirty="0" err="1"/>
              <a:t>berkontribusi</a:t>
            </a:r>
            <a:r>
              <a:rPr lang="en-US" dirty="0"/>
              <a:t> pada </a:t>
            </a:r>
            <a:r>
              <a:rPr lang="en-US" dirty="0" err="1"/>
              <a:t>keberlanjutan</a:t>
            </a:r>
            <a:r>
              <a:rPr lang="en-US" dirty="0"/>
              <a:t> </a:t>
            </a:r>
            <a:r>
              <a:rPr lang="en-US" dirty="0" err="1"/>
              <a:t>lingkungan</a:t>
            </a:r>
            <a:r>
              <a:rPr lang="en-US" dirty="0"/>
              <a:t> dan </a:t>
            </a:r>
            <a:r>
              <a:rPr lang="en-US" dirty="0" err="1"/>
              <a:t>peningkatan</a:t>
            </a:r>
            <a:r>
              <a:rPr lang="en-US" dirty="0"/>
              <a:t> </a:t>
            </a:r>
            <a:r>
              <a:rPr lang="en-US" dirty="0" err="1"/>
              <a:t>kesejahteraan</a:t>
            </a:r>
            <a:r>
              <a:rPr lang="en-US" dirty="0"/>
              <a:t> </a:t>
            </a:r>
            <a:r>
              <a:rPr lang="en-US" dirty="0" err="1"/>
              <a:t>petani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pemberdayaan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dan </a:t>
            </a:r>
            <a:r>
              <a:rPr lang="en-US" dirty="0" err="1"/>
              <a:t>peningkatan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. </a:t>
            </a:r>
          </a:p>
          <a:p>
            <a:r>
              <a:rPr lang="en-US" dirty="0"/>
              <a:t>Dalam dunia </a:t>
            </a:r>
            <a:r>
              <a:rPr lang="en-US" dirty="0" err="1"/>
              <a:t>perdagangan</a:t>
            </a:r>
            <a:r>
              <a:rPr lang="en-US" dirty="0"/>
              <a:t> </a:t>
            </a:r>
            <a:r>
              <a:rPr lang="en-US" dirty="0" err="1"/>
              <a:t>internasional</a:t>
            </a:r>
            <a:r>
              <a:rPr lang="en-US" dirty="0"/>
              <a:t> </a:t>
            </a:r>
            <a:r>
              <a:rPr lang="en-US" dirty="0" err="1"/>
              <a:t>minyak</a:t>
            </a:r>
            <a:r>
              <a:rPr lang="en-US" dirty="0"/>
              <a:t> </a:t>
            </a:r>
            <a:r>
              <a:rPr lang="en-US" dirty="0" err="1"/>
              <a:t>nilam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dikenal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Patchouli Oil. </a:t>
            </a:r>
            <a:r>
              <a:rPr lang="en-US" dirty="0" err="1"/>
              <a:t>Minyak</a:t>
            </a:r>
            <a:r>
              <a:rPr lang="en-US" dirty="0"/>
              <a:t> </a:t>
            </a:r>
            <a:r>
              <a:rPr lang="en-US" dirty="0" err="1"/>
              <a:t>nilam</a:t>
            </a:r>
            <a:r>
              <a:rPr lang="en-US" dirty="0"/>
              <a:t> </a:t>
            </a:r>
            <a:r>
              <a:rPr lang="en-US" dirty="0" err="1"/>
              <a:t>kerap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campuran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kosmetik</a:t>
            </a:r>
            <a:r>
              <a:rPr lang="en-US" dirty="0"/>
              <a:t>, </a:t>
            </a:r>
            <a:r>
              <a:rPr lang="en-US" dirty="0" err="1"/>
              <a:t>farmasi</a:t>
            </a:r>
            <a:r>
              <a:rPr lang="en-US" dirty="0"/>
              <a:t>, dan aroma </a:t>
            </a:r>
            <a:r>
              <a:rPr lang="en-US" dirty="0" err="1"/>
              <a:t>terapi</a:t>
            </a:r>
            <a:r>
              <a:rPr lang="en-US" dirty="0"/>
              <a:t>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zat</a:t>
            </a:r>
            <a:r>
              <a:rPr lang="en-US" dirty="0"/>
              <a:t> </a:t>
            </a:r>
            <a:r>
              <a:rPr lang="en-US" dirty="0" err="1"/>
              <a:t>pengikat</a:t>
            </a:r>
            <a:r>
              <a:rPr lang="en-US" dirty="0"/>
              <a:t> /  fixative agent dan </a:t>
            </a:r>
            <a:r>
              <a:rPr lang="en-US" dirty="0" err="1"/>
              <a:t>farmasi</a:t>
            </a:r>
            <a:r>
              <a:rPr lang="en-US" dirty="0"/>
              <a:t>. </a:t>
            </a:r>
            <a:r>
              <a:rPr lang="en-US" dirty="0" err="1"/>
              <a:t>Tanaman</a:t>
            </a:r>
            <a:r>
              <a:rPr lang="en-US" dirty="0"/>
              <a:t> </a:t>
            </a:r>
            <a:r>
              <a:rPr lang="en-US" dirty="0" err="1"/>
              <a:t>aromatik</a:t>
            </a:r>
            <a:r>
              <a:rPr lang="en-US" dirty="0"/>
              <a:t> yang kaya </a:t>
            </a:r>
            <a:r>
              <a:rPr lang="en-US" dirty="0" err="1"/>
              <a:t>manfaat</a:t>
            </a:r>
            <a:r>
              <a:rPr lang="en-US" dirty="0"/>
              <a:t>, </a:t>
            </a:r>
            <a:r>
              <a:rPr lang="en-US" dirty="0" err="1"/>
              <a:t>terutama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industri</a:t>
            </a:r>
            <a:r>
              <a:rPr lang="en-US" dirty="0"/>
              <a:t> parfum dan </a:t>
            </a:r>
            <a:r>
              <a:rPr lang="en-US" dirty="0" err="1"/>
              <a:t>kosmetik</a:t>
            </a:r>
            <a:r>
              <a:rPr lang="en-US" dirty="0"/>
              <a:t>. Seiring </a:t>
            </a:r>
            <a:r>
              <a:rPr lang="en-US" dirty="0" err="1"/>
              <a:t>waktu</a:t>
            </a:r>
            <a:r>
              <a:rPr lang="en-US" dirty="0"/>
              <a:t>,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petani</a:t>
            </a:r>
            <a:r>
              <a:rPr lang="en-US" dirty="0"/>
              <a:t> yang </a:t>
            </a:r>
            <a:r>
              <a:rPr lang="en-US" dirty="0" err="1"/>
              <a:t>beralih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tanaman</a:t>
            </a:r>
            <a:r>
              <a:rPr lang="en-US" dirty="0"/>
              <a:t> </a:t>
            </a:r>
            <a:r>
              <a:rPr lang="en-US" dirty="0" err="1"/>
              <a:t>nilam</a:t>
            </a:r>
            <a:r>
              <a:rPr lang="en-US" dirty="0"/>
              <a:t>.</a:t>
            </a:r>
            <a:r>
              <a:rPr lang="sv-SE" dirty="0"/>
              <a:t> Dengan melihat peluang tersebut maka saya tertarik untuk mendirikan usaha dibidang pertanian yakni penjualan bibit nilam.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A9558D5-EB6D-C2EA-C5E2-79076944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9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field of wheat with tracks in it">
            <a:extLst>
              <a:ext uri="{FF2B5EF4-FFF2-40B4-BE49-F238E27FC236}">
                <a16:creationId xmlns:a16="http://schemas.microsoft.com/office/drawing/2014/main" id="{5BA975B6-ACDF-974C-4B0A-792DE5F09C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0"/>
            <a:ext cx="58674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5BF4AF3-2D87-5D1D-245D-49E6F0B0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" y="1113167"/>
            <a:ext cx="5636320" cy="1518351"/>
          </a:xfrm>
        </p:spPr>
        <p:txBody>
          <a:bodyPr/>
          <a:lstStyle/>
          <a:p>
            <a:r>
              <a:rPr lang="en-US" dirty="0"/>
              <a:t>B. TUJUAN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54D2994-9415-4D02-832F-1613883CEFA3}"/>
              </a:ext>
            </a:extLst>
          </p:cNvPr>
          <p:cNvSpPr txBox="1">
            <a:spLocks/>
          </p:cNvSpPr>
          <p:nvPr/>
        </p:nvSpPr>
        <p:spPr>
          <a:xfrm>
            <a:off x="6096001" y="217714"/>
            <a:ext cx="5867400" cy="65314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Menciptakan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lapangan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kerja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sendiri</a:t>
            </a:r>
            <a:endParaRPr lang="en-ID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Memiliki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penghasilan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sendiri</a:t>
            </a:r>
            <a:endParaRPr lang="en-ID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Menciptakan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inovasi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kreatif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anak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muda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pada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bidang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pertanian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514350" indent="-514350">
              <a:buAutoNum type="arabicPeriod"/>
            </a:pP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Mengurangi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tingkat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pengangguran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dengan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membuka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cabang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di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beberapa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Lokasi</a:t>
            </a:r>
          </a:p>
          <a:p>
            <a:pPr marL="514350" indent="-514350">
              <a:buAutoNum type="arabicPeriod"/>
            </a:pP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Mengurangi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beban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biaya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pengeluaran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keluarga</a:t>
            </a:r>
            <a:r>
              <a:rPr lang="en-ID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00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7AA682-23C9-1BDB-4CA7-4250C7AD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11425"/>
            <a:ext cx="5377544" cy="7069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54AEBF-73B2-2188-6E43-D85E829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4" y="1153885"/>
            <a:ext cx="4753060" cy="2423381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</a:rPr>
              <a:t>C. JENIS BIBIT NILAM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885A6-2008-15E5-517B-3CBBFE99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B67C079-E4DB-1A50-5697-D6CEBA69AA1C}"/>
              </a:ext>
            </a:extLst>
          </p:cNvPr>
          <p:cNvSpPr txBox="1">
            <a:spLocks/>
          </p:cNvSpPr>
          <p:nvPr/>
        </p:nvSpPr>
        <p:spPr>
          <a:xfrm>
            <a:off x="5889172" y="620486"/>
            <a:ext cx="5856514" cy="5181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ID" sz="2000" dirty="0"/>
              <a:t>Nilam Aceh, </a:t>
            </a:r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ID" sz="2000" dirty="0" err="1"/>
              <a:t>nilam</a:t>
            </a:r>
            <a:r>
              <a:rPr lang="en-ID" sz="2000" dirty="0"/>
              <a:t> Aceh (</a:t>
            </a:r>
            <a:r>
              <a:rPr lang="en-ID" sz="2000" dirty="0" err="1"/>
              <a:t>Pogostemon</a:t>
            </a:r>
            <a:r>
              <a:rPr lang="en-ID" sz="2000" dirty="0"/>
              <a:t> </a:t>
            </a:r>
            <a:r>
              <a:rPr lang="en-ID" sz="2000" dirty="0" err="1"/>
              <a:t>cablin</a:t>
            </a:r>
            <a:r>
              <a:rPr lang="en-ID" sz="2000" dirty="0"/>
              <a:t> Benth) yang </a:t>
            </a:r>
            <a:r>
              <a:rPr lang="en-ID" sz="2000" dirty="0" err="1"/>
              <a:t>kandungan</a:t>
            </a:r>
            <a:r>
              <a:rPr lang="en-ID" sz="2000" dirty="0"/>
              <a:t> </a:t>
            </a:r>
            <a:r>
              <a:rPr lang="en-ID" sz="2000" dirty="0" err="1"/>
              <a:t>minyaknya</a:t>
            </a:r>
            <a:r>
              <a:rPr lang="en-ID" sz="2000" dirty="0"/>
              <a:t> </a:t>
            </a:r>
            <a:r>
              <a:rPr lang="en-ID" sz="2000" dirty="0" err="1"/>
              <a:t>tinggi</a:t>
            </a:r>
            <a:r>
              <a:rPr lang="en-ID" sz="2000" dirty="0"/>
              <a:t>, </a:t>
            </a:r>
            <a:r>
              <a:rPr lang="en-ID" sz="2000" dirty="0" err="1"/>
              <a:t>yaitu</a:t>
            </a:r>
            <a:r>
              <a:rPr lang="en-ID" sz="2000" dirty="0"/>
              <a:t> 2,5-5%</a:t>
            </a:r>
          </a:p>
          <a:p>
            <a:pPr marL="0" indent="0">
              <a:buNone/>
            </a:pPr>
            <a:r>
              <a:rPr lang="en-ID" sz="2000" dirty="0"/>
              <a:t>Nilam Aceh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kualitas</a:t>
            </a:r>
            <a:r>
              <a:rPr lang="en-ID" sz="2000" dirty="0"/>
              <a:t> </a:t>
            </a:r>
            <a:r>
              <a:rPr lang="en-ID" sz="2000" dirty="0" err="1"/>
              <a:t>minyak</a:t>
            </a:r>
            <a:r>
              <a:rPr lang="en-ID" sz="2000" dirty="0"/>
              <a:t> yang sangat </a:t>
            </a:r>
            <a:r>
              <a:rPr lang="en-ID" sz="2000" dirty="0" err="1"/>
              <a:t>tinggi</a:t>
            </a:r>
            <a:r>
              <a:rPr lang="en-ID" sz="2000" dirty="0"/>
              <a:t>, </a:t>
            </a:r>
            <a:r>
              <a:rPr lang="en-ID" sz="2000" dirty="0" err="1"/>
              <a:t>sehingga</a:t>
            </a:r>
            <a:r>
              <a:rPr lang="en-ID" sz="2000" dirty="0"/>
              <a:t> </a:t>
            </a:r>
          </a:p>
          <a:p>
            <a:pPr marL="0" indent="0">
              <a:buNone/>
            </a:pP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pilihan</a:t>
            </a:r>
            <a:r>
              <a:rPr lang="en-ID" sz="2000" dirty="0"/>
              <a:t> </a:t>
            </a:r>
            <a:r>
              <a:rPr lang="en-ID" sz="2000" dirty="0" err="1"/>
              <a:t>utama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industri</a:t>
            </a:r>
            <a:r>
              <a:rPr lang="en-ID" sz="2000" dirty="0"/>
              <a:t> parfum dan </a:t>
            </a:r>
            <a:r>
              <a:rPr lang="en-ID" sz="2000" dirty="0" err="1"/>
              <a:t>kosmetik</a:t>
            </a:r>
            <a:r>
              <a:rPr lang="en-ID" sz="2000" dirty="0"/>
              <a:t>. </a:t>
            </a:r>
            <a:r>
              <a:rPr lang="en-ID" sz="2000" dirty="0" err="1"/>
              <a:t>Permukaan</a:t>
            </a:r>
            <a:r>
              <a:rPr lang="en-ID" sz="2000" dirty="0"/>
              <a:t> </a:t>
            </a:r>
            <a:r>
              <a:rPr lang="en-ID" sz="2000" dirty="0" err="1"/>
              <a:t>daun</a:t>
            </a:r>
            <a:r>
              <a:rPr lang="en-ID" sz="2000" dirty="0"/>
              <a:t> </a:t>
            </a:r>
            <a:r>
              <a:rPr lang="en-ID" sz="2000" dirty="0" err="1"/>
              <a:t>nilam</a:t>
            </a:r>
            <a:r>
              <a:rPr lang="en-ID" sz="2000" dirty="0"/>
              <a:t> Aceh </a:t>
            </a:r>
            <a:r>
              <a:rPr lang="en-ID" sz="2000" dirty="0" err="1"/>
              <a:t>halus</a:t>
            </a:r>
            <a:r>
              <a:rPr lang="en-ID" sz="2000" dirty="0"/>
              <a:t>,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tepi</a:t>
            </a:r>
            <a:r>
              <a:rPr lang="en-ID" sz="2000" dirty="0"/>
              <a:t> </a:t>
            </a:r>
            <a:r>
              <a:rPr lang="en-ID" sz="2000" dirty="0" err="1"/>
              <a:t>daun</a:t>
            </a:r>
            <a:r>
              <a:rPr lang="en-ID" sz="2000" dirty="0"/>
              <a:t> yang </a:t>
            </a:r>
            <a:r>
              <a:rPr lang="en-ID" sz="2000" dirty="0" err="1"/>
              <a:t>bergerigi</a:t>
            </a:r>
            <a:r>
              <a:rPr lang="en-ID" sz="2000" dirty="0"/>
              <a:t> </a:t>
            </a:r>
            <a:r>
              <a:rPr lang="en-ID" sz="2000" dirty="0" err="1"/>
              <a:t>tumpul</a:t>
            </a:r>
            <a:r>
              <a:rPr lang="en-ID" sz="2000" dirty="0"/>
              <a:t> dan </a:t>
            </a:r>
            <a:r>
              <a:rPr lang="en-ID" sz="2000" dirty="0" err="1"/>
              <a:t>ujung</a:t>
            </a:r>
            <a:r>
              <a:rPr lang="en-ID" sz="2000" dirty="0"/>
              <a:t> </a:t>
            </a:r>
            <a:r>
              <a:rPr lang="en-ID" sz="2000" dirty="0" err="1"/>
              <a:t>daun</a:t>
            </a:r>
            <a:r>
              <a:rPr lang="en-ID" sz="2000" dirty="0"/>
              <a:t> </a:t>
            </a:r>
            <a:r>
              <a:rPr lang="en-ID" sz="2000" dirty="0" err="1"/>
              <a:t>runcing</a:t>
            </a:r>
            <a:r>
              <a:rPr lang="en-ID" sz="2000" dirty="0"/>
              <a:t>.</a:t>
            </a:r>
          </a:p>
          <a:p>
            <a:pPr marL="0" indent="0">
              <a:buNone/>
            </a:pPr>
            <a:r>
              <a:rPr lang="en-ID" sz="2000" dirty="0"/>
              <a:t>Nilam Aceh juga </a:t>
            </a:r>
            <a:r>
              <a:rPr lang="en-ID" sz="2000" dirty="0" err="1"/>
              <a:t>terdiri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</a:t>
            </a:r>
            <a:r>
              <a:rPr lang="en-ID" sz="2000" dirty="0" err="1"/>
              <a:t>varietas</a:t>
            </a:r>
            <a:r>
              <a:rPr lang="en-ID" sz="2000" dirty="0"/>
              <a:t> </a:t>
            </a:r>
            <a:r>
              <a:rPr lang="en-ID" sz="2000" dirty="0" err="1"/>
              <a:t>unggulan</a:t>
            </a:r>
            <a:r>
              <a:rPr lang="en-ID" sz="2000" dirty="0"/>
              <a:t>, 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Tapak</a:t>
            </a:r>
            <a:r>
              <a:rPr lang="en-ID" sz="2000" dirty="0"/>
              <a:t> Tuan, Lhokseumawe, dan </a:t>
            </a:r>
            <a:r>
              <a:rPr lang="en-ID" sz="2000" dirty="0" err="1"/>
              <a:t>Sidikalang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22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AE54-F0D9-9ED3-1077-79214134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D7BD5-FF6D-3F3E-8B41-F29B670827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50EEA-A3DD-5747-A9F0-DE8F3D16FD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10344" y="846591"/>
            <a:ext cx="9775371" cy="5586866"/>
          </a:xfrm>
        </p:spPr>
        <p:txBody>
          <a:bodyPr/>
          <a:lstStyle/>
          <a:p>
            <a:r>
              <a:rPr lang="en-ID" dirty="0"/>
              <a:t>2. Nilam Jawa </a:t>
            </a:r>
          </a:p>
          <a:p>
            <a:r>
              <a:rPr lang="en-ID" dirty="0"/>
              <a:t>Nilam Jawa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aromanya</a:t>
            </a:r>
            <a:r>
              <a:rPr lang="en-ID" dirty="0"/>
              <a:t> yang segar dan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kecantikan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  <a:r>
              <a:rPr lang="en-ID" dirty="0" err="1"/>
              <a:t>Permukaan</a:t>
            </a:r>
            <a:r>
              <a:rPr lang="en-ID" dirty="0"/>
              <a:t> </a:t>
            </a:r>
            <a:r>
              <a:rPr lang="en-ID" dirty="0" err="1"/>
              <a:t>daunnya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kasar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nilam</a:t>
            </a:r>
            <a:r>
              <a:rPr lang="en-ID" dirty="0"/>
              <a:t> Aceh,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tepi</a:t>
            </a:r>
            <a:r>
              <a:rPr lang="en-ID" dirty="0"/>
              <a:t> </a:t>
            </a:r>
            <a:r>
              <a:rPr lang="en-ID" dirty="0" err="1"/>
              <a:t>daun</a:t>
            </a:r>
            <a:r>
              <a:rPr lang="en-ID" dirty="0"/>
              <a:t> </a:t>
            </a:r>
            <a:r>
              <a:rPr lang="en-ID" dirty="0" err="1"/>
              <a:t>bergerigi</a:t>
            </a:r>
            <a:r>
              <a:rPr lang="en-ID" dirty="0"/>
              <a:t> </a:t>
            </a:r>
            <a:r>
              <a:rPr lang="en-ID" dirty="0" err="1"/>
              <a:t>tajam</a:t>
            </a:r>
            <a:r>
              <a:rPr lang="en-ID" dirty="0"/>
              <a:t> dan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daun</a:t>
            </a:r>
            <a:r>
              <a:rPr lang="en-ID" dirty="0"/>
              <a:t> yang </a:t>
            </a:r>
            <a:r>
              <a:rPr lang="en-ID" dirty="0" err="1"/>
              <a:t>meruncing.Meskipun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minyaknya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rendah</a:t>
            </a:r>
            <a:r>
              <a:rPr lang="en-ID" dirty="0"/>
              <a:t>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nilam</a:t>
            </a:r>
            <a:r>
              <a:rPr lang="en-ID" dirty="0"/>
              <a:t> Aceh, </a:t>
            </a:r>
            <a:r>
              <a:rPr lang="en-ID" dirty="0" err="1"/>
              <a:t>tanaman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komersial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aromanya</a:t>
            </a:r>
            <a:r>
              <a:rPr lang="en-ID" dirty="0"/>
              <a:t> yang </a:t>
            </a:r>
            <a:r>
              <a:rPr lang="en-ID" dirty="0" err="1"/>
              <a:t>khas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3. Nilam </a:t>
            </a:r>
            <a:r>
              <a:rPr lang="en-ID" dirty="0" err="1"/>
              <a:t>Sabun</a:t>
            </a:r>
            <a:r>
              <a:rPr lang="en-ID" dirty="0"/>
              <a:t> Nilam</a:t>
            </a:r>
          </a:p>
          <a:p>
            <a:r>
              <a:rPr lang="en-ID" dirty="0" err="1"/>
              <a:t>Sabun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varietas</a:t>
            </a:r>
            <a:r>
              <a:rPr lang="en-ID" dirty="0"/>
              <a:t> </a:t>
            </a:r>
            <a:r>
              <a:rPr lang="en-ID" dirty="0" err="1"/>
              <a:t>nilam</a:t>
            </a:r>
            <a:r>
              <a:rPr lang="en-ID" dirty="0"/>
              <a:t> yang </a:t>
            </a:r>
            <a:r>
              <a:rPr lang="en-ID" dirty="0" err="1"/>
              <a:t>biasa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dan </a:t>
            </a:r>
            <a:r>
              <a:rPr lang="en-ID" dirty="0" err="1"/>
              <a:t>deterjen.Daunnya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yang </a:t>
            </a:r>
            <a:r>
              <a:rPr lang="en-ID" dirty="0" err="1"/>
              <a:t>mirip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nilam</a:t>
            </a:r>
            <a:r>
              <a:rPr lang="en-ID" dirty="0"/>
              <a:t> Jawa,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kandungan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F7462-B395-8229-15F5-C777AA05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45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87AE-3FF3-FD40-3E72-3A9FF0A4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80F85-0D1C-C6A3-BEC9-BFB4CB305A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A3A7C-B7D6-3A15-4D3F-73D9702EAF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8573" y="664029"/>
            <a:ext cx="6847114" cy="4593770"/>
          </a:xfrm>
        </p:spPr>
        <p:txBody>
          <a:bodyPr/>
          <a:lstStyle/>
          <a:p>
            <a:endParaRPr lang="en-ID" dirty="0"/>
          </a:p>
          <a:p>
            <a:r>
              <a:rPr lang="en-ID" dirty="0"/>
              <a:t>4. Nilam India </a:t>
            </a:r>
          </a:p>
          <a:p>
            <a:r>
              <a:rPr lang="en-ID" dirty="0"/>
              <a:t>Nilam India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daun</a:t>
            </a:r>
            <a:r>
              <a:rPr lang="en-ID" dirty="0"/>
              <a:t> yang </a:t>
            </a:r>
            <a:r>
              <a:rPr lang="en-ID" dirty="0" err="1"/>
              <a:t>cenderung</a:t>
            </a:r>
            <a:r>
              <a:rPr lang="en-ID" dirty="0"/>
              <a:t> </a:t>
            </a:r>
            <a:r>
              <a:rPr lang="en-ID" dirty="0" err="1"/>
              <a:t>lebar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</a:p>
          <a:p>
            <a:r>
              <a:rPr lang="en-ID" dirty="0" err="1"/>
              <a:t>tepi</a:t>
            </a:r>
            <a:r>
              <a:rPr lang="en-ID" dirty="0"/>
              <a:t> </a:t>
            </a:r>
            <a:r>
              <a:rPr lang="en-ID" dirty="0" err="1"/>
              <a:t>bergerigi</a:t>
            </a:r>
            <a:r>
              <a:rPr lang="en-ID" dirty="0"/>
              <a:t> </a:t>
            </a:r>
            <a:r>
              <a:rPr lang="en-ID" dirty="0" err="1"/>
              <a:t>halus</a:t>
            </a:r>
            <a:r>
              <a:rPr lang="en-ID" dirty="0"/>
              <a:t>. Jenis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</a:p>
          <a:p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campuran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atsiri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sifatnya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memperkuat</a:t>
            </a:r>
            <a:r>
              <a:rPr lang="en-ID" dirty="0"/>
              <a:t> </a:t>
            </a:r>
            <a:r>
              <a:rPr lang="en-ID" dirty="0" err="1"/>
              <a:t>aroma.Daun</a:t>
            </a:r>
            <a:r>
              <a:rPr lang="en-ID" dirty="0"/>
              <a:t> </a:t>
            </a:r>
            <a:r>
              <a:rPr lang="en-ID" dirty="0" err="1"/>
              <a:t>nilam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varietasAceh</a:t>
            </a:r>
            <a:r>
              <a:rPr lang="en-ID" dirty="0"/>
              <a:t>, Jawa,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,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atsiri</a:t>
            </a:r>
            <a:r>
              <a:rPr lang="en-ID" dirty="0"/>
              <a:t>.</a:t>
            </a:r>
          </a:p>
          <a:p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dihasilkan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proses </a:t>
            </a:r>
            <a:r>
              <a:rPr lang="en-ID" dirty="0" err="1"/>
              <a:t>penyulingan</a:t>
            </a:r>
            <a:r>
              <a:rPr lang="en-ID" dirty="0"/>
              <a:t> </a:t>
            </a:r>
            <a:r>
              <a:rPr lang="en-ID" dirty="0" err="1"/>
              <a:t>daun</a:t>
            </a:r>
            <a:r>
              <a:rPr lang="en-ID" dirty="0"/>
              <a:t> dan ranting </a:t>
            </a:r>
            <a:r>
              <a:rPr lang="en-ID" dirty="0" err="1"/>
              <a:t>nilam</a:t>
            </a:r>
            <a:r>
              <a:rPr lang="en-ID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99BF-32C1-34CA-4682-A153D5467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9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350" y="539196"/>
            <a:ext cx="3401992" cy="5121375"/>
          </a:xfrm>
          <a:ln>
            <a:noFill/>
          </a:ln>
        </p:spPr>
        <p:txBody>
          <a:bodyPr/>
          <a:lstStyle/>
          <a:p>
            <a:pPr algn="l"/>
            <a:r>
              <a:rPr lang="en-US" noProof="0" dirty="0"/>
              <a:t>D. TARGET PEMASARAN DAN STRATEGI PEMASARAN</a:t>
            </a:r>
            <a:endParaRPr lang="en-US" dirty="0"/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86401" y="615496"/>
            <a:ext cx="5867399" cy="5045075"/>
          </a:xfrm>
        </p:spPr>
        <p:txBody>
          <a:bodyPr anchor="ctr"/>
          <a:lstStyle/>
          <a:p>
            <a:pPr marL="342900" indent="-342900">
              <a:buAutoNum type="arabicPeriod"/>
            </a:pPr>
            <a:r>
              <a:rPr lang="en-US" dirty="0"/>
              <a:t>Target  </a:t>
            </a:r>
            <a:r>
              <a:rPr lang="en-US" dirty="0" err="1"/>
              <a:t>pemasaran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target </a:t>
            </a:r>
            <a:r>
              <a:rPr lang="en-US" dirty="0" err="1"/>
              <a:t>pemasaran</a:t>
            </a:r>
            <a:r>
              <a:rPr lang="en-US" dirty="0"/>
              <a:t> </a:t>
            </a:r>
            <a:r>
              <a:rPr lang="en-US" dirty="0" err="1"/>
              <a:t>bibit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para </a:t>
            </a:r>
            <a:r>
              <a:rPr lang="en-US" dirty="0" err="1"/>
              <a:t>petani</a:t>
            </a:r>
            <a:r>
              <a:rPr lang="en-US" dirty="0"/>
              <a:t> di</a:t>
            </a:r>
          </a:p>
          <a:p>
            <a:pPr marL="0" indent="0">
              <a:buNone/>
            </a:pPr>
            <a:r>
              <a:rPr lang="en-US" dirty="0" err="1"/>
              <a:t>seluruh</a:t>
            </a:r>
            <a:r>
              <a:rPr lang="en-US" dirty="0"/>
              <a:t> wilayah </a:t>
            </a:r>
            <a:r>
              <a:rPr lang="en-US" dirty="0" err="1"/>
              <a:t>Kabupaten</a:t>
            </a:r>
            <a:r>
              <a:rPr lang="en-US" dirty="0"/>
              <a:t> Buton dan wilayah Indonesia pada </a:t>
            </a:r>
            <a:r>
              <a:rPr lang="en-US" dirty="0" err="1"/>
              <a:t>umumnya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pemula</a:t>
            </a:r>
            <a:r>
              <a:rPr lang="en-US" dirty="0"/>
              <a:t> yang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memulai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penanaman</a:t>
            </a:r>
            <a:r>
              <a:rPr lang="en-US" dirty="0"/>
              <a:t> </a:t>
            </a:r>
            <a:r>
              <a:rPr lang="en-US" dirty="0" err="1"/>
              <a:t>nilam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Strategi </a:t>
            </a:r>
            <a:r>
              <a:rPr lang="en-US" dirty="0" err="1"/>
              <a:t>Pemasaran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a. </a:t>
            </a:r>
            <a:r>
              <a:rPr lang="en-US" dirty="0" err="1"/>
              <a:t>Promosi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social media</a:t>
            </a:r>
          </a:p>
          <a:p>
            <a:pPr marL="0" indent="0">
              <a:buNone/>
            </a:pPr>
            <a:r>
              <a:rPr lang="en-US" dirty="0"/>
              <a:t>( Facebook, </a:t>
            </a:r>
            <a:r>
              <a:rPr lang="en-US" dirty="0" err="1"/>
              <a:t>Tiktok</a:t>
            </a:r>
            <a:r>
              <a:rPr lang="en-US" dirty="0"/>
              <a:t>, Instagram).</a:t>
            </a:r>
          </a:p>
          <a:p>
            <a:pPr marL="0" indent="0">
              <a:buNone/>
            </a:pPr>
            <a:r>
              <a:rPr lang="en-US" dirty="0"/>
              <a:t>b.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Pesanan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COD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5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347400-F1A2-FAFC-8A83-9280B6C44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474BE4-7E2B-E70C-BE16-53C499FE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639" y="136525"/>
            <a:ext cx="6553199" cy="1088020"/>
          </a:xfrm>
        </p:spPr>
        <p:txBody>
          <a:bodyPr/>
          <a:lstStyle/>
          <a:p>
            <a:r>
              <a:rPr lang="en-US" dirty="0" err="1"/>
              <a:t>Analisis</a:t>
            </a:r>
            <a:r>
              <a:rPr lang="en-US" dirty="0"/>
              <a:t>  SWOT Pada Usaha </a:t>
            </a:r>
            <a:r>
              <a:rPr lang="en-US" dirty="0" err="1"/>
              <a:t>Bibit</a:t>
            </a:r>
            <a:r>
              <a:rPr lang="en-US" dirty="0"/>
              <a:t> Nilam 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592F102-C30A-79F5-326C-BF31D7C82181}"/>
              </a:ext>
            </a:extLst>
          </p:cNvPr>
          <p:cNvSpPr txBox="1">
            <a:spLocks/>
          </p:cNvSpPr>
          <p:nvPr/>
        </p:nvSpPr>
        <p:spPr>
          <a:xfrm>
            <a:off x="370114" y="2405743"/>
            <a:ext cx="4288972" cy="44522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1. Strengths ( </a:t>
            </a:r>
            <a:r>
              <a:rPr lang="en-US" dirty="0" err="1"/>
              <a:t>kekuatan</a:t>
            </a:r>
            <a:r>
              <a:rPr lang="en-US" dirty="0"/>
              <a:t> )</a:t>
            </a:r>
          </a:p>
          <a:p>
            <a:r>
              <a:rPr lang="en-US" dirty="0" err="1"/>
              <a:t>Bibit</a:t>
            </a:r>
            <a:r>
              <a:rPr lang="en-US" dirty="0"/>
              <a:t> </a:t>
            </a:r>
            <a:r>
              <a:rPr lang="en-US" dirty="0" err="1"/>
              <a:t>nilam</a:t>
            </a:r>
            <a:r>
              <a:rPr lang="en-US" dirty="0"/>
              <a:t> yang </a:t>
            </a:r>
            <a:r>
              <a:rPr lang="en-US" dirty="0" err="1"/>
              <a:t>berkualitas</a:t>
            </a:r>
            <a:r>
              <a:rPr lang="en-US" dirty="0"/>
              <a:t> </a:t>
            </a:r>
            <a:r>
              <a:rPr lang="en-US" dirty="0" err="1"/>
              <a:t>unggul</a:t>
            </a:r>
            <a:r>
              <a:rPr lang="en-US" dirty="0"/>
              <a:t>,  dan </a:t>
            </a:r>
            <a:r>
              <a:rPr lang="en-US" dirty="0" err="1"/>
              <a:t>harga</a:t>
            </a:r>
            <a:r>
              <a:rPr lang="en-US" dirty="0"/>
              <a:t> yang </a:t>
            </a:r>
            <a:r>
              <a:rPr lang="en-US" dirty="0" err="1"/>
              <a:t>terjangkau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Weaknesses ( </a:t>
            </a:r>
            <a:r>
              <a:rPr lang="en-US" dirty="0" err="1"/>
              <a:t>Kelemahan</a:t>
            </a:r>
            <a:r>
              <a:rPr lang="en-US" dirty="0"/>
              <a:t> )</a:t>
            </a:r>
          </a:p>
          <a:p>
            <a:r>
              <a:rPr lang="en-US" dirty="0" err="1"/>
              <a:t>Jumlah</a:t>
            </a:r>
            <a:r>
              <a:rPr lang="en-US" dirty="0"/>
              <a:t>  </a:t>
            </a:r>
            <a:r>
              <a:rPr lang="en-US" dirty="0" err="1"/>
              <a:t>stok</a:t>
            </a:r>
            <a:r>
              <a:rPr lang="en-US" dirty="0"/>
              <a:t> </a:t>
            </a:r>
            <a:r>
              <a:rPr lang="en-US" dirty="0" err="1"/>
              <a:t>bibit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,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-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bibit</a:t>
            </a:r>
            <a:r>
              <a:rPr lang="en-US" dirty="0"/>
              <a:t> yang</a:t>
            </a:r>
          </a:p>
          <a:p>
            <a:r>
              <a:rPr lang="en-US" dirty="0" err="1"/>
              <a:t>kurang</a:t>
            </a:r>
            <a:r>
              <a:rPr lang="en-US" dirty="0"/>
              <a:t> dan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memadai</a:t>
            </a:r>
            <a:r>
              <a:rPr lang="en-US" dirty="0"/>
              <a:t>.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F3556E6C-5C2E-BA9B-1817-61BF68C17E56}"/>
              </a:ext>
            </a:extLst>
          </p:cNvPr>
          <p:cNvSpPr txBox="1">
            <a:spLocks/>
          </p:cNvSpPr>
          <p:nvPr/>
        </p:nvSpPr>
        <p:spPr>
          <a:xfrm>
            <a:off x="7674429" y="2601686"/>
            <a:ext cx="4158818" cy="35502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enorite" panose="00000500000000000000" pitchFamily="2" charset="0"/>
              </a:rPr>
              <a:t>3. Opportunities ( </a:t>
            </a:r>
            <a:r>
              <a:rPr lang="en-US" sz="1800" dirty="0" err="1">
                <a:latin typeface="Tenorite" panose="00000500000000000000" pitchFamily="2" charset="0"/>
              </a:rPr>
              <a:t>Peluang</a:t>
            </a:r>
            <a:r>
              <a:rPr lang="en-US" sz="1800" dirty="0">
                <a:latin typeface="Tenorite" panose="00000500000000000000" pitchFamily="2" charset="0"/>
              </a:rPr>
              <a:t> )</a:t>
            </a:r>
          </a:p>
          <a:p>
            <a:pPr marL="0" indent="0">
              <a:buNone/>
            </a:pPr>
            <a:r>
              <a:rPr lang="en-US" sz="1800" dirty="0" err="1">
                <a:latin typeface="Tenorite" panose="00000500000000000000" pitchFamily="2" charset="0"/>
              </a:rPr>
              <a:t>Menjadi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mitra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utama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penyuplai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bibit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nilam</a:t>
            </a:r>
            <a:r>
              <a:rPr lang="en-US" sz="1800" dirty="0">
                <a:latin typeface="Tenorite" panose="00000500000000000000" pitchFamily="2" charset="0"/>
              </a:rPr>
              <a:t> di </a:t>
            </a:r>
            <a:r>
              <a:rPr lang="en-US" sz="1800" dirty="0" err="1">
                <a:latin typeface="Tenorite" panose="00000500000000000000" pitchFamily="2" charset="0"/>
              </a:rPr>
              <a:t>Kabupaten</a:t>
            </a:r>
            <a:r>
              <a:rPr lang="en-US" sz="1800" dirty="0">
                <a:latin typeface="Tenorite" panose="00000500000000000000" pitchFamily="2" charset="0"/>
              </a:rPr>
              <a:t> Buton.</a:t>
            </a:r>
          </a:p>
          <a:p>
            <a:endParaRPr lang="en-US" sz="1800" dirty="0">
              <a:latin typeface="Tenorite" panose="00000500000000000000" pitchFamily="2" charset="0"/>
            </a:endParaRPr>
          </a:p>
          <a:p>
            <a:pPr marL="0" indent="0">
              <a:buNone/>
            </a:pPr>
            <a:r>
              <a:rPr lang="en-US" sz="1800" dirty="0">
                <a:latin typeface="Tenorite" panose="00000500000000000000" pitchFamily="2" charset="0"/>
              </a:rPr>
              <a:t>4. Threats ( </a:t>
            </a:r>
            <a:r>
              <a:rPr lang="en-US" sz="1800" dirty="0" err="1">
                <a:latin typeface="Tenorite" panose="00000500000000000000" pitchFamily="2" charset="0"/>
              </a:rPr>
              <a:t>Ancaman</a:t>
            </a:r>
            <a:r>
              <a:rPr lang="en-US" sz="1800" dirty="0">
                <a:latin typeface="Tenorite" panose="00000500000000000000" pitchFamily="2" charset="0"/>
              </a:rPr>
              <a:t> )</a:t>
            </a:r>
          </a:p>
          <a:p>
            <a:pPr marL="0" indent="0">
              <a:buNone/>
            </a:pPr>
            <a:r>
              <a:rPr lang="en-US" sz="1800" dirty="0" err="1">
                <a:latin typeface="Tenorite" panose="00000500000000000000" pitchFamily="2" charset="0"/>
              </a:rPr>
              <a:t>Persaingan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bidang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usaha</a:t>
            </a:r>
            <a:r>
              <a:rPr lang="en-US" sz="1800" dirty="0">
                <a:latin typeface="Tenorite" panose="00000500000000000000" pitchFamily="2" charset="0"/>
              </a:rPr>
              <a:t>,  </a:t>
            </a:r>
            <a:r>
              <a:rPr lang="en-US" sz="1800" dirty="0" err="1">
                <a:latin typeface="Tenorite" panose="00000500000000000000" pitchFamily="2" charset="0"/>
              </a:rPr>
              <a:t>fluktuasi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harga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minyak</a:t>
            </a:r>
            <a:r>
              <a:rPr lang="en-US" sz="1800" dirty="0">
                <a:latin typeface="Tenorite" panose="00000500000000000000" pitchFamily="2" charset="0"/>
              </a:rPr>
              <a:t> </a:t>
            </a:r>
            <a:r>
              <a:rPr lang="en-US" sz="1800" dirty="0" err="1">
                <a:latin typeface="Tenorite" panose="00000500000000000000" pitchFamily="2" charset="0"/>
              </a:rPr>
              <a:t>nilam</a:t>
            </a:r>
            <a:r>
              <a:rPr lang="en-US" sz="1800" dirty="0">
                <a:latin typeface="Tenorite" panose="00000500000000000000" pitchFamily="2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51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BCD3B-EAB4-87E8-85AB-C9DDB716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61" y="1541398"/>
            <a:ext cx="4442603" cy="212482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5" name="Picture Placeholder 14" descr="A close up of a leaf">
            <a:extLst>
              <a:ext uri="{FF2B5EF4-FFF2-40B4-BE49-F238E27FC236}">
                <a16:creationId xmlns:a16="http://schemas.microsoft.com/office/drawing/2014/main" id="{C59CFD32-0A41-78F6-63F2-D8BBA2F23D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5" r="55"/>
          <a:stretch/>
        </p:blipFill>
        <p:spPr>
          <a:xfrm>
            <a:off x="6771736" y="0"/>
            <a:ext cx="5420263" cy="6858000"/>
          </a:xfrm>
        </p:spPr>
      </p:pic>
    </p:spTree>
    <p:extLst>
      <p:ext uri="{BB962C8B-B14F-4D97-AF65-F5344CB8AC3E}">
        <p14:creationId xmlns:p14="http://schemas.microsoft.com/office/powerpoint/2010/main" val="30101510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175_Win32_SL_V6" id="{2596AF0E-92BF-4F5A-A2A1-B1C9D33CD0CE}" vid="{0709752F-9199-467A-B305-5274ECB68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{C6C1D425-3052-452E-9CA3-00F08BFBD984}TF8c6975b0-03aa-48e8-8a23-2a6072f108da7bca746b_win32-937fb968a2bf</Template>
  <TotalTime>72</TotalTime>
  <Words>556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Tenorite</vt:lpstr>
      <vt:lpstr>Tenorite </vt:lpstr>
      <vt:lpstr>Tenorite Bold</vt:lpstr>
      <vt:lpstr>Custom</vt:lpstr>
      <vt:lpstr>PROPOSAL  USAHA BIBIT NILAM</vt:lpstr>
      <vt:lpstr>A. DASAR PEMIKIRAN</vt:lpstr>
      <vt:lpstr>B. TUJUAN</vt:lpstr>
      <vt:lpstr>C. JENIS BIBIT NILAM</vt:lpstr>
      <vt:lpstr>PowerPoint Presentation</vt:lpstr>
      <vt:lpstr>PowerPoint Presentation</vt:lpstr>
      <vt:lpstr>D. TARGET PEMASARAN DAN STRATEGI PEMASARAN</vt:lpstr>
      <vt:lpstr>Analisis  SWOT Pada Usaha Bibit Nilam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Tiyusrin</dc:creator>
  <cp:lastModifiedBy>Tiyusrin</cp:lastModifiedBy>
  <cp:revision>2</cp:revision>
  <dcterms:created xsi:type="dcterms:W3CDTF">2025-08-06T14:39:09Z</dcterms:created>
  <dcterms:modified xsi:type="dcterms:W3CDTF">2025-08-06T15:52:32Z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